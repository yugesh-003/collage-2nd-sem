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sldIdLst>
    <p:sldId id="256" r:id="rId2"/>
    <p:sldId id="257" r:id="rId3"/>
    <p:sldId id="258" r:id="rId4"/>
    <p:sldId id="267" r:id="rId5"/>
    <p:sldId id="268" r:id="rId6"/>
    <p:sldId id="259" r:id="rId7"/>
    <p:sldId id="260" r:id="rId8"/>
    <p:sldId id="269" r:id="rId9"/>
    <p:sldId id="270" r:id="rId10"/>
    <p:sldId id="272" r:id="rId11"/>
    <p:sldId id="273" r:id="rId12"/>
    <p:sldId id="277" r:id="rId13"/>
    <p:sldId id="278" r:id="rId14"/>
    <p:sldId id="26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83284890-85D2-4D7B-8EF5-15A9C1DB8F42}" type="datetimeFigureOut">
              <a:rPr lang="en-US" smtClean="0"/>
              <a:t>28-Mar-25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5357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28-Mar-25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8735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F822A4-8DA6-4447-9B1F-C5DB58435268}" type="datetimeFigureOut">
              <a:rPr lang="en-US" smtClean="0"/>
              <a:t>28-Mar-25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5234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28-Mar-25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10196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28-Mar-25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9653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smtClean="0"/>
              <a:t>28-Mar-25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61158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28-Mar-25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234320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28-Mar-25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15223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28-Mar-25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051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smtClean="0"/>
              <a:t>28-Mar-25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91237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28-Mar-25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189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664C608-40B1-4030-A28D-5B74BC98ADCE}" type="datetimeFigureOut">
              <a:rPr lang="en-US" smtClean="0"/>
              <a:t>28-Mar-25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062805"/>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22348-90CA-4934-FD3E-A1339919FBD6}"/>
              </a:ext>
            </a:extLst>
          </p:cNvPr>
          <p:cNvSpPr>
            <a:spLocks noGrp="1"/>
          </p:cNvSpPr>
          <p:nvPr>
            <p:ph type="ctrTitle"/>
          </p:nvPr>
        </p:nvSpPr>
        <p:spPr>
          <a:xfrm>
            <a:off x="1489587" y="4892040"/>
            <a:ext cx="7772400" cy="1463040"/>
          </a:xfrm>
        </p:spPr>
        <p:txBody>
          <a:bodyPr/>
          <a:lstStyle/>
          <a:p>
            <a:pPr algn="l"/>
            <a:r>
              <a:rPr lang="en-IN" dirty="0"/>
              <a:t>Vibe Wave</a:t>
            </a:r>
          </a:p>
        </p:txBody>
      </p:sp>
      <p:sp>
        <p:nvSpPr>
          <p:cNvPr id="3" name="Subtitle 2">
            <a:extLst>
              <a:ext uri="{FF2B5EF4-FFF2-40B4-BE49-F238E27FC236}">
                <a16:creationId xmlns:a16="http://schemas.microsoft.com/office/drawing/2014/main" id="{DC3E4387-FBD2-86A2-7DC0-359EAAFFE88C}"/>
              </a:ext>
            </a:extLst>
          </p:cNvPr>
          <p:cNvSpPr>
            <a:spLocks noGrp="1"/>
          </p:cNvSpPr>
          <p:nvPr>
            <p:ph type="subTitle" idx="1"/>
          </p:nvPr>
        </p:nvSpPr>
        <p:spPr>
          <a:xfrm>
            <a:off x="1069848" y="4389120"/>
            <a:ext cx="10679700" cy="2468880"/>
          </a:xfrm>
        </p:spPr>
        <p:txBody>
          <a:bodyPr>
            <a:normAutofit/>
          </a:bodyPr>
          <a:lstStyle/>
          <a:p>
            <a:r>
              <a:rPr lang="en-IN" dirty="0"/>
              <a:t>                                                                               </a:t>
            </a:r>
          </a:p>
          <a:p>
            <a:r>
              <a:rPr lang="en-IN" sz="2000" b="1" dirty="0">
                <a:latin typeface="Times New Roman" panose="02020603050405020304" pitchFamily="18" charset="0"/>
                <a:cs typeface="Times New Roman" panose="02020603050405020304" pitchFamily="18" charset="0"/>
              </a:rPr>
              <a:t>                                                                                       SUBMITTED BY:</a:t>
            </a:r>
          </a:p>
          <a:p>
            <a:r>
              <a:rPr lang="en-IN" sz="2000" dirty="0">
                <a:latin typeface="Times New Roman" panose="02020603050405020304" pitchFamily="18" charset="0"/>
                <a:cs typeface="Times New Roman" panose="02020603050405020304" pitchFamily="18" charset="0"/>
              </a:rPr>
              <a:t>                                                                                       Yugesh A, Karan K, </a:t>
            </a:r>
            <a:r>
              <a:rPr lang="en-IN" sz="2000" dirty="0" err="1">
                <a:latin typeface="Times New Roman" panose="02020603050405020304" pitchFamily="18" charset="0"/>
                <a:cs typeface="Times New Roman" panose="02020603050405020304" pitchFamily="18" charset="0"/>
              </a:rPr>
              <a:t>Vengateshwaran</a:t>
            </a:r>
            <a:r>
              <a:rPr lang="en-IN" sz="2000" dirty="0">
                <a:latin typeface="Times New Roman" panose="02020603050405020304" pitchFamily="18" charset="0"/>
                <a:cs typeface="Times New Roman" panose="02020603050405020304" pitchFamily="18" charset="0"/>
              </a:rPr>
              <a:t> M</a:t>
            </a:r>
          </a:p>
          <a:p>
            <a:r>
              <a:rPr lang="en-IN" sz="2000" dirty="0">
                <a:latin typeface="Times New Roman" panose="02020603050405020304" pitchFamily="18" charset="0"/>
                <a:cs typeface="Times New Roman" panose="02020603050405020304" pitchFamily="18" charset="0"/>
              </a:rPr>
              <a:t>                                                                                       242237, 242222, 242236</a:t>
            </a:r>
          </a:p>
          <a:p>
            <a:r>
              <a:rPr lang="en-IN" sz="2000" dirty="0">
                <a:latin typeface="Times New Roman" panose="02020603050405020304" pitchFamily="18" charset="0"/>
                <a:cs typeface="Times New Roman" panose="02020603050405020304" pitchFamily="18" charset="0"/>
              </a:rPr>
              <a:t>                                                                                       I </a:t>
            </a:r>
            <a:r>
              <a:rPr lang="en-IN" sz="2000" dirty="0" err="1">
                <a:latin typeface="Times New Roman" panose="02020603050405020304" pitchFamily="18" charset="0"/>
                <a:cs typeface="Times New Roman" panose="02020603050405020304" pitchFamily="18" charset="0"/>
              </a:rPr>
              <a:t>B.Sc</a:t>
            </a:r>
            <a:r>
              <a:rPr lang="en-IN" sz="2000" dirty="0">
                <a:latin typeface="Times New Roman" panose="02020603050405020304" pitchFamily="18" charset="0"/>
                <a:cs typeface="Times New Roman" panose="02020603050405020304" pitchFamily="18" charset="0"/>
              </a:rPr>
              <a:t> CS (Data Science &amp; Analytics) </a:t>
            </a:r>
          </a:p>
          <a:p>
            <a:endParaRPr lang="en-IN" dirty="0"/>
          </a:p>
        </p:txBody>
      </p:sp>
    </p:spTree>
    <p:extLst>
      <p:ext uri="{BB962C8B-B14F-4D97-AF65-F5344CB8AC3E}">
        <p14:creationId xmlns:p14="http://schemas.microsoft.com/office/powerpoint/2010/main" val="2930668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1EF74-9D3A-F423-59DB-9E9E004525A6}"/>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85D79CEF-ECEC-74E3-AC15-45D0D2F3C4D4}"/>
              </a:ext>
            </a:extLst>
          </p:cNvPr>
          <p:cNvSpPr>
            <a:spLocks noGrp="1"/>
          </p:cNvSpPr>
          <p:nvPr>
            <p:ph idx="1"/>
          </p:nvPr>
        </p:nvSpPr>
        <p:spPr/>
        <p:txBody>
          <a:bodyPr>
            <a:normAutofit/>
          </a:bodyPr>
          <a:lstStyle/>
          <a:p>
            <a:pPr marL="0" indent="0">
              <a:lnSpc>
                <a:spcPct val="200000"/>
              </a:lnSpc>
              <a:buNone/>
            </a:pPr>
            <a:r>
              <a:rPr lang="en-US" sz="1600" dirty="0">
                <a:latin typeface="Times New Roman" panose="02020603050405020304" pitchFamily="18" charset="0"/>
                <a:cs typeface="Times New Roman" panose="02020603050405020304" pitchFamily="18" charset="0"/>
              </a:rPr>
              <a:t>Vibe Wave is a music management platform that enables users to upload, store, and access their songs seamlessly across multiple devices. Designed with a user-friendly interface, it offers a website for enhanced accessibility. Users can create profiles, upload their own songs, and download their music on any logged-in device. The platform ensures secure file management and authentication using Python and/or Node </a:t>
            </a:r>
            <a:r>
              <a:rPr lang="en-US" sz="1600" dirty="0" err="1">
                <a:latin typeface="Times New Roman" panose="02020603050405020304" pitchFamily="18" charset="0"/>
                <a:cs typeface="Times New Roman" panose="02020603050405020304" pitchFamily="18" charset="0"/>
              </a:rPr>
              <a:t>Js</a:t>
            </a:r>
            <a:r>
              <a:rPr lang="en-US" sz="1600" dirty="0">
                <a:latin typeface="Times New Roman" panose="02020603050405020304" pitchFamily="18" charset="0"/>
                <a:cs typeface="Times New Roman" panose="02020603050405020304" pitchFamily="18" charset="0"/>
              </a:rPr>
              <a:t> for backend operations and MongoDB for data storage. Vibe Wave follows a subscription-based model, providing different storage and feature options, including a free plan with limited storage and premium plans for expanded access. With a design inspired by leading music platforms, Vibe Wave aims to deliver a smooth and efficient music experience.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4443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06E60-18EE-478C-D9D9-D48820EBD2DA}"/>
              </a:ext>
            </a:extLst>
          </p:cNvPr>
          <p:cNvSpPr>
            <a:spLocks noGrp="1"/>
          </p:cNvSpPr>
          <p:nvPr>
            <p:ph type="title"/>
          </p:nvPr>
        </p:nvSpPr>
        <p:spPr/>
        <p:txBody>
          <a:bodyPr/>
          <a:lstStyle/>
          <a:p>
            <a:r>
              <a:rPr lang="en-IN" dirty="0"/>
              <a:t>System Analysis</a:t>
            </a:r>
          </a:p>
        </p:txBody>
      </p:sp>
      <p:sp>
        <p:nvSpPr>
          <p:cNvPr id="3" name="Content Placeholder 2">
            <a:extLst>
              <a:ext uri="{FF2B5EF4-FFF2-40B4-BE49-F238E27FC236}">
                <a16:creationId xmlns:a16="http://schemas.microsoft.com/office/drawing/2014/main" id="{2C9E3624-B9BE-3010-174B-ED3879F080DC}"/>
              </a:ext>
            </a:extLst>
          </p:cNvPr>
          <p:cNvSpPr>
            <a:spLocks noGrp="1"/>
          </p:cNvSpPr>
          <p:nvPr>
            <p:ph idx="1"/>
          </p:nvPr>
        </p:nvSpPr>
        <p:spPr>
          <a:xfrm>
            <a:off x="1069848" y="2093976"/>
            <a:ext cx="10058400" cy="4050792"/>
          </a:xfrm>
        </p:spPr>
        <p:txBody>
          <a:bodyPr>
            <a:normAutofit fontScale="77500" lnSpcReduction="20000"/>
          </a:bodyPr>
          <a:lstStyle/>
          <a:p>
            <a:pPr marL="0" indent="0">
              <a:lnSpc>
                <a:spcPct val="150000"/>
              </a:lnSpc>
              <a:buNone/>
            </a:pPr>
            <a:r>
              <a:rPr lang="en-US" b="1" dirty="0">
                <a:latin typeface="Times New Roman" panose="02020603050405020304" pitchFamily="18" charset="0"/>
                <a:cs typeface="Times New Roman" panose="02020603050405020304" pitchFamily="18" charset="0"/>
              </a:rPr>
              <a:t>Existing System</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Major platforms like Spotify, Apple Music, YouTube Music, SoundCloud dominate the music streaming market, each with unique strength.</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While Spotify and Apple Music offer vast libraries and premium features, they lack user-upload options.</a:t>
            </a:r>
          </a:p>
          <a:p>
            <a:pPr marL="0" indent="0">
              <a:lnSpc>
                <a:spcPct val="150000"/>
              </a:lnSpc>
              <a:buNone/>
            </a:pPr>
            <a:r>
              <a:rPr lang="en-US" b="1" dirty="0">
                <a:latin typeface="Times New Roman" panose="02020603050405020304" pitchFamily="18" charset="0"/>
                <a:cs typeface="Times New Roman" panose="02020603050405020304" pitchFamily="18" charset="0"/>
              </a:rPr>
              <a:t>Proposed System</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Vibe Wave is a music storage and streaming platform designed to give users complete control over their personal music collection..</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Unlike traditional streaming services Vibe Wave allows users to upload, manage, and access their own songs anytime.</a:t>
            </a:r>
            <a:endParaRPr lang="en-IN" dirty="0"/>
          </a:p>
        </p:txBody>
      </p:sp>
    </p:spTree>
    <p:extLst>
      <p:ext uri="{BB962C8B-B14F-4D97-AF65-F5344CB8AC3E}">
        <p14:creationId xmlns:p14="http://schemas.microsoft.com/office/powerpoint/2010/main" val="440572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59E78-235B-A7F9-3C27-BE5901061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89FBE-B490-16B5-AE81-55C2BCBA0A3D}"/>
              </a:ext>
            </a:extLst>
          </p:cNvPr>
          <p:cNvSpPr>
            <a:spLocks noGrp="1"/>
          </p:cNvSpPr>
          <p:nvPr>
            <p:ph type="title"/>
          </p:nvPr>
        </p:nvSpPr>
        <p:spPr/>
        <p:txBody>
          <a:bodyPr/>
          <a:lstStyle/>
          <a:p>
            <a:r>
              <a:rPr lang="en-IN" dirty="0"/>
              <a:t>EXISTING SYSTEM DRAWBACKS:</a:t>
            </a:r>
          </a:p>
        </p:txBody>
      </p:sp>
      <p:sp>
        <p:nvSpPr>
          <p:cNvPr id="3" name="Content Placeholder 2">
            <a:extLst>
              <a:ext uri="{FF2B5EF4-FFF2-40B4-BE49-F238E27FC236}">
                <a16:creationId xmlns:a16="http://schemas.microsoft.com/office/drawing/2014/main" id="{C2845B74-E882-3F82-EF4D-3E281D7663E0}"/>
              </a:ext>
            </a:extLst>
          </p:cNvPr>
          <p:cNvSpPr>
            <a:spLocks noGrp="1"/>
          </p:cNvSpPr>
          <p:nvPr>
            <p:ph idx="1"/>
          </p:nvPr>
        </p:nvSpPr>
        <p:spPr>
          <a:xfrm>
            <a:off x="1069848" y="2093976"/>
            <a:ext cx="10058400" cy="4050792"/>
          </a:xfrm>
        </p:spPr>
        <p:txBody>
          <a:bodyPr>
            <a:normAutofit fontScale="70000" lnSpcReduction="20000"/>
          </a:bodyPr>
          <a:lstStyle/>
          <a:p>
            <a:pPr marL="0" indent="0">
              <a:lnSpc>
                <a:spcPct val="150000"/>
              </a:lnSpc>
              <a:buNone/>
            </a:pPr>
            <a:r>
              <a:rPr lang="en-US" sz="1900" b="1" dirty="0">
                <a:latin typeface="Times New Roman" panose="02020603050405020304" pitchFamily="18" charset="0"/>
                <a:cs typeface="Times New Roman" panose="02020603050405020304" pitchFamily="18" charset="0"/>
              </a:rPr>
              <a:t>1. Limited User Control</a:t>
            </a:r>
            <a:r>
              <a:rPr lang="en-US" sz="19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Users cannot upload and store their own music for easy access across multiple devices.</a:t>
            </a: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Music libraries are controlled by platforms, restricting personalization.</a:t>
            </a:r>
          </a:p>
          <a:p>
            <a:pPr marL="0" indent="0">
              <a:lnSpc>
                <a:spcPct val="150000"/>
              </a:lnSpc>
              <a:buNone/>
            </a:pPr>
            <a:r>
              <a:rPr lang="en-US" sz="1900" b="1" dirty="0">
                <a:latin typeface="Times New Roman" panose="02020603050405020304" pitchFamily="18" charset="0"/>
                <a:cs typeface="Times New Roman" panose="02020603050405020304" pitchFamily="18" charset="0"/>
              </a:rPr>
              <a:t>2. Lack of Personal Music Creation Features:</a:t>
            </a: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No option to save, or manage personal audio samples for future song creation.</a:t>
            </a: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Users rely on external software for storing their own music.</a:t>
            </a:r>
          </a:p>
          <a:p>
            <a:pPr marL="0" indent="0">
              <a:lnSpc>
                <a:spcPct val="150000"/>
              </a:lnSpc>
              <a:buNone/>
            </a:pPr>
            <a:r>
              <a:rPr lang="en-US" sz="1900" b="1" dirty="0">
                <a:latin typeface="Times New Roman" panose="02020603050405020304" pitchFamily="18" charset="0"/>
                <a:cs typeface="Times New Roman" panose="02020603050405020304" pitchFamily="18" charset="0"/>
              </a:rPr>
              <a:t>3. Storage Limitations &amp; Expensive Premium Plans</a:t>
            </a: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Free plans offer very limited storage, restricting user uploads.</a:t>
            </a: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Paid plans are often expensive with no affordable mid-tier options.</a:t>
            </a:r>
          </a:p>
        </p:txBody>
      </p:sp>
    </p:spTree>
    <p:extLst>
      <p:ext uri="{BB962C8B-B14F-4D97-AF65-F5344CB8AC3E}">
        <p14:creationId xmlns:p14="http://schemas.microsoft.com/office/powerpoint/2010/main" val="589623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A88C8-44CF-3368-BF11-8088F9F78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87765-6209-F458-4772-508A73F94A42}"/>
              </a:ext>
            </a:extLst>
          </p:cNvPr>
          <p:cNvSpPr>
            <a:spLocks noGrp="1"/>
          </p:cNvSpPr>
          <p:nvPr>
            <p:ph type="title"/>
          </p:nvPr>
        </p:nvSpPr>
        <p:spPr/>
        <p:txBody>
          <a:bodyPr/>
          <a:lstStyle/>
          <a:p>
            <a:r>
              <a:rPr lang="en-IN" dirty="0"/>
              <a:t>PROPOSED SYSTEM ADVANTAGES:</a:t>
            </a:r>
          </a:p>
        </p:txBody>
      </p:sp>
      <p:sp>
        <p:nvSpPr>
          <p:cNvPr id="3" name="Content Placeholder 2">
            <a:extLst>
              <a:ext uri="{FF2B5EF4-FFF2-40B4-BE49-F238E27FC236}">
                <a16:creationId xmlns:a16="http://schemas.microsoft.com/office/drawing/2014/main" id="{D50C9C88-F3CA-E48C-6E72-667AA1F57184}"/>
              </a:ext>
            </a:extLst>
          </p:cNvPr>
          <p:cNvSpPr>
            <a:spLocks noGrp="1"/>
          </p:cNvSpPr>
          <p:nvPr>
            <p:ph idx="1"/>
          </p:nvPr>
        </p:nvSpPr>
        <p:spPr>
          <a:xfrm>
            <a:off x="1069848" y="2093976"/>
            <a:ext cx="10058400" cy="4050792"/>
          </a:xfrm>
        </p:spPr>
        <p:txBody>
          <a:bodyPr>
            <a:normAutofit fontScale="70000" lnSpcReduction="20000"/>
          </a:bodyPr>
          <a:lstStyle/>
          <a:p>
            <a:pPr marL="0" indent="0">
              <a:lnSpc>
                <a:spcPct val="150000"/>
              </a:lnSpc>
              <a:buNone/>
            </a:pPr>
            <a:r>
              <a:rPr lang="en-US" sz="1900" b="1" dirty="0">
                <a:latin typeface="Times New Roman" panose="02020603050405020304" pitchFamily="18" charset="0"/>
                <a:cs typeface="Times New Roman" panose="02020603050405020304" pitchFamily="18" charset="0"/>
              </a:rPr>
              <a:t>1. Personalized Music Storage</a:t>
            </a:r>
            <a:endParaRPr lang="en-US" sz="19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Users can upload, store, and access their own music files from any device.</a:t>
            </a: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Provides a dedicated cloud storage system for personal music collections.</a:t>
            </a:r>
          </a:p>
          <a:p>
            <a:pPr marL="0" indent="0">
              <a:lnSpc>
                <a:spcPct val="150000"/>
              </a:lnSpc>
              <a:buNone/>
            </a:pPr>
            <a:r>
              <a:rPr lang="en-US" sz="1900" b="1" dirty="0">
                <a:latin typeface="Times New Roman" panose="02020603050405020304" pitchFamily="18" charset="0"/>
                <a:cs typeface="Times New Roman" panose="02020603050405020304" pitchFamily="18" charset="0"/>
              </a:rPr>
              <a:t>2. Offline Access &amp; Seamless Playback</a:t>
            </a:r>
            <a:endParaRPr lang="en-US" sz="19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Users can download their uploaded songs for offline listening without restrictions.</a:t>
            </a: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Music can be played anytime, anywhere, without requiring an internet connection.</a:t>
            </a:r>
          </a:p>
          <a:p>
            <a:pPr marL="0" indent="0">
              <a:lnSpc>
                <a:spcPct val="150000"/>
              </a:lnSpc>
              <a:buNone/>
            </a:pPr>
            <a:r>
              <a:rPr lang="en-US" sz="1900" b="1" dirty="0">
                <a:latin typeface="Times New Roman" panose="02020603050405020304" pitchFamily="18" charset="0"/>
                <a:cs typeface="Times New Roman" panose="02020603050405020304" pitchFamily="18" charset="0"/>
              </a:rPr>
              <a:t>3. Sample Storage</a:t>
            </a:r>
            <a:endParaRPr lang="en-US" sz="19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Enables users to save, and manage their own audio samples.</a:t>
            </a:r>
          </a:p>
          <a:p>
            <a:pPr>
              <a:lnSpc>
                <a:spcPct val="150000"/>
              </a:lnSpc>
              <a:buFont typeface="Wingdings" panose="05000000000000000000" pitchFamily="2" charset="2"/>
              <a:buChar char="v"/>
            </a:pPr>
            <a:r>
              <a:rPr lang="en-US" sz="1900" dirty="0">
                <a:latin typeface="Times New Roman" panose="02020603050405020304" pitchFamily="18" charset="0"/>
                <a:cs typeface="Times New Roman" panose="02020603050405020304" pitchFamily="18" charset="0"/>
              </a:rPr>
              <a:t> Helps aspiring musicians store ideas and create their own tracks</a:t>
            </a:r>
            <a:endParaRPr lang="en-IN" dirty="0"/>
          </a:p>
        </p:txBody>
      </p:sp>
    </p:spTree>
    <p:extLst>
      <p:ext uri="{BB962C8B-B14F-4D97-AF65-F5344CB8AC3E}">
        <p14:creationId xmlns:p14="http://schemas.microsoft.com/office/powerpoint/2010/main" val="2063536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97E7E-D4BD-29D1-ED98-A9E13A8DA29E}"/>
              </a:ext>
            </a:extLst>
          </p:cNvPr>
          <p:cNvSpPr>
            <a:spLocks noGrp="1"/>
          </p:cNvSpPr>
          <p:nvPr>
            <p:ph type="title"/>
          </p:nvPr>
        </p:nvSpPr>
        <p:spPr/>
        <p:txBody>
          <a:bodyPr/>
          <a:lstStyle/>
          <a:p>
            <a:r>
              <a:rPr lang="en-IN" dirty="0"/>
              <a:t>System Requirements</a:t>
            </a:r>
          </a:p>
        </p:txBody>
      </p:sp>
      <p:sp>
        <p:nvSpPr>
          <p:cNvPr id="3" name="Content Placeholder 2">
            <a:extLst>
              <a:ext uri="{FF2B5EF4-FFF2-40B4-BE49-F238E27FC236}">
                <a16:creationId xmlns:a16="http://schemas.microsoft.com/office/drawing/2014/main" id="{B3D5F4C2-68C0-D853-92DA-1527D1D4B187}"/>
              </a:ext>
            </a:extLst>
          </p:cNvPr>
          <p:cNvSpPr>
            <a:spLocks noGrp="1"/>
          </p:cNvSpPr>
          <p:nvPr>
            <p:ph idx="1"/>
          </p:nvPr>
        </p:nvSpPr>
        <p:spPr>
          <a:xfrm>
            <a:off x="1061884" y="1964091"/>
            <a:ext cx="10058400" cy="4623521"/>
          </a:xfrm>
        </p:spPr>
        <p:txBody>
          <a:bodyPr>
            <a:normAutofit fontScale="55000" lnSpcReduction="20000"/>
          </a:bodyPr>
          <a:lstStyle/>
          <a:p>
            <a:pPr marL="0" indent="0">
              <a:lnSpc>
                <a:spcPct val="120000"/>
              </a:lnSpc>
              <a:buNone/>
            </a:pPr>
            <a:r>
              <a:rPr lang="en-IN" b="1" dirty="0">
                <a:latin typeface="Times New Roman" panose="02020603050405020304" pitchFamily="18" charset="0"/>
                <a:cs typeface="Times New Roman" panose="02020603050405020304" pitchFamily="18" charset="0"/>
              </a:rPr>
              <a:t>Hardware Requirements:</a:t>
            </a:r>
          </a:p>
          <a:p>
            <a:pPr>
              <a:lnSpc>
                <a:spcPct val="120000"/>
              </a:lnSpc>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Device: </a:t>
            </a:r>
            <a:r>
              <a:rPr lang="en-US" dirty="0">
                <a:latin typeface="Times New Roman" panose="02020603050405020304" pitchFamily="18" charset="0"/>
                <a:cs typeface="Times New Roman" panose="02020603050405020304" pitchFamily="18" charset="0"/>
              </a:rPr>
              <a:t>Desktop, laptop, tablet, or smartphone</a:t>
            </a:r>
          </a:p>
          <a:p>
            <a:pPr>
              <a:lnSpc>
                <a:spcPct val="120000"/>
              </a:lnSpc>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Processor</a:t>
            </a:r>
            <a:r>
              <a:rPr lang="en-US" dirty="0">
                <a:latin typeface="Times New Roman" panose="02020603050405020304" pitchFamily="18" charset="0"/>
                <a:cs typeface="Times New Roman" panose="02020603050405020304" pitchFamily="18" charset="0"/>
              </a:rPr>
              <a:t>: Dual-core or higher</a:t>
            </a:r>
          </a:p>
          <a:p>
            <a:pPr>
              <a:lnSpc>
                <a:spcPct val="120000"/>
              </a:lnSpc>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Memory</a:t>
            </a:r>
            <a:r>
              <a:rPr lang="en-US" dirty="0">
                <a:latin typeface="Times New Roman" panose="02020603050405020304" pitchFamily="18" charset="0"/>
                <a:cs typeface="Times New Roman" panose="02020603050405020304" pitchFamily="18" charset="0"/>
              </a:rPr>
              <a:t>: 4 GB RAM or higher</a:t>
            </a:r>
          </a:p>
          <a:p>
            <a:pPr>
              <a:lnSpc>
                <a:spcPct val="120000"/>
              </a:lnSpc>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Storage</a:t>
            </a:r>
            <a:r>
              <a:rPr lang="en-US" dirty="0">
                <a:latin typeface="Times New Roman" panose="02020603050405020304" pitchFamily="18" charset="0"/>
                <a:cs typeface="Times New Roman" panose="02020603050405020304" pitchFamily="18" charset="0"/>
              </a:rPr>
              <a:t>: 128 GB or higher</a:t>
            </a:r>
          </a:p>
          <a:p>
            <a:pPr>
              <a:lnSpc>
                <a:spcPct val="120000"/>
              </a:lnSpc>
              <a:buFont typeface="Courier New" panose="02070309020205020404" pitchFamily="49" charset="0"/>
              <a:buChar char="o"/>
            </a:pPr>
            <a:r>
              <a:rPr lang="en-US" b="1" dirty="0">
                <a:latin typeface="Times New Roman" panose="02020603050405020304" pitchFamily="18" charset="0"/>
                <a:cs typeface="Times New Roman" panose="02020603050405020304" pitchFamily="18" charset="0"/>
              </a:rPr>
              <a:t>Operating System</a:t>
            </a:r>
            <a:r>
              <a:rPr lang="en-US" dirty="0">
                <a:latin typeface="Times New Roman" panose="02020603050405020304" pitchFamily="18" charset="0"/>
                <a:cs typeface="Times New Roman" panose="02020603050405020304" pitchFamily="18" charset="0"/>
              </a:rPr>
              <a:t>: Windows, macOS, or mobile OS (Android or iOS)</a:t>
            </a:r>
          </a:p>
          <a:p>
            <a:pPr marL="0" indent="0">
              <a:lnSpc>
                <a:spcPct val="120000"/>
              </a:lnSpc>
              <a:buNone/>
            </a:pPr>
            <a:r>
              <a:rPr lang="en-IN" b="1" dirty="0">
                <a:latin typeface="Times New Roman" panose="02020603050405020304" pitchFamily="18" charset="0"/>
                <a:cs typeface="Times New Roman" panose="02020603050405020304" pitchFamily="18" charset="0"/>
              </a:rPr>
              <a:t>Software Requirements:</a:t>
            </a:r>
          </a:p>
          <a:p>
            <a:pPr>
              <a:lnSpc>
                <a:spcPct val="120000"/>
              </a:lnSpc>
              <a:buFont typeface="Courier New" panose="02070309020205020404" pitchFamily="49" charset="0"/>
              <a:buChar char="o"/>
            </a:pPr>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Windows, macOS, or Linux</a:t>
            </a:r>
          </a:p>
          <a:p>
            <a:pPr>
              <a:lnSpc>
                <a:spcPct val="120000"/>
              </a:lnSpc>
              <a:buFont typeface="Courier New" panose="02070309020205020404" pitchFamily="49" charset="0"/>
              <a:buChar char="o"/>
            </a:pPr>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Node.js</a:t>
            </a:r>
          </a:p>
          <a:p>
            <a:pPr>
              <a:lnSpc>
                <a:spcPct val="120000"/>
              </a:lnSpc>
              <a:buFont typeface="Courier New" panose="02070309020205020404" pitchFamily="49" charset="0"/>
              <a:buChar char="o"/>
            </a:pPr>
            <a:r>
              <a:rPr lang="en-IN" b="1" dirty="0">
                <a:latin typeface="Times New Roman" panose="02020603050405020304" pitchFamily="18" charset="0"/>
                <a:cs typeface="Times New Roman" panose="02020603050405020304" pitchFamily="18" charset="0"/>
              </a:rPr>
              <a:t>Database</a:t>
            </a:r>
            <a:r>
              <a:rPr lang="en-IN" dirty="0">
                <a:latin typeface="Times New Roman" panose="02020603050405020304" pitchFamily="18" charset="0"/>
                <a:cs typeface="Times New Roman" panose="02020603050405020304" pitchFamily="18" charset="0"/>
              </a:rPr>
              <a:t>: MongoDB</a:t>
            </a:r>
          </a:p>
          <a:p>
            <a:pPr>
              <a:lnSpc>
                <a:spcPct val="120000"/>
              </a:lnSpc>
              <a:buFont typeface="Courier New" panose="02070309020205020404" pitchFamily="49" charset="0"/>
              <a:buChar char="o"/>
            </a:pPr>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HTML, CSS, JavaScript</a:t>
            </a:r>
          </a:p>
          <a:p>
            <a:pPr>
              <a:lnSpc>
                <a:spcPct val="120000"/>
              </a:lnSpc>
              <a:buFont typeface="Courier New" panose="02070309020205020404" pitchFamily="49" charset="0"/>
              <a:buChar char="o"/>
            </a:pPr>
            <a:r>
              <a:rPr lang="en-IN" b="1" dirty="0">
                <a:latin typeface="Times New Roman" panose="02020603050405020304" pitchFamily="18" charset="0"/>
                <a:cs typeface="Times New Roman" panose="02020603050405020304" pitchFamily="18" charset="0"/>
              </a:rPr>
              <a:t>IDE/Editor</a:t>
            </a:r>
            <a:r>
              <a:rPr lang="en-IN" dirty="0">
                <a:latin typeface="Times New Roman" panose="02020603050405020304" pitchFamily="18" charset="0"/>
                <a:cs typeface="Times New Roman" panose="02020603050405020304" pitchFamily="18" charset="0"/>
              </a:rPr>
              <a:t>: Visual Studio Code, or any text editor</a:t>
            </a:r>
          </a:p>
          <a:p>
            <a:pPr marL="0" indent="0">
              <a:buNone/>
            </a:pPr>
            <a:endParaRPr lang="en-IN" dirty="0"/>
          </a:p>
        </p:txBody>
      </p:sp>
    </p:spTree>
    <p:extLst>
      <p:ext uri="{BB962C8B-B14F-4D97-AF65-F5344CB8AC3E}">
        <p14:creationId xmlns:p14="http://schemas.microsoft.com/office/powerpoint/2010/main" val="1751321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3943E-0093-904C-AFE9-4EBB31388C70}"/>
              </a:ext>
            </a:extLst>
          </p:cNvPr>
          <p:cNvSpPr>
            <a:spLocks noGrp="1"/>
          </p:cNvSpPr>
          <p:nvPr>
            <p:ph type="title"/>
          </p:nvPr>
        </p:nvSpPr>
        <p:spPr/>
        <p:txBody>
          <a:bodyPr/>
          <a:lstStyle/>
          <a:p>
            <a:r>
              <a:rPr lang="en-IN" dirty="0"/>
              <a:t>Module Descriptions</a:t>
            </a:r>
          </a:p>
        </p:txBody>
      </p:sp>
      <p:sp>
        <p:nvSpPr>
          <p:cNvPr id="3" name="Content Placeholder 2">
            <a:extLst>
              <a:ext uri="{FF2B5EF4-FFF2-40B4-BE49-F238E27FC236}">
                <a16:creationId xmlns:a16="http://schemas.microsoft.com/office/drawing/2014/main" id="{D8EB8716-1A21-7ED0-4026-87362CF8FDB1}"/>
              </a:ext>
            </a:extLst>
          </p:cNvPr>
          <p:cNvSpPr>
            <a:spLocks noGrp="1"/>
          </p:cNvSpPr>
          <p:nvPr>
            <p:ph idx="1"/>
          </p:nvPr>
        </p:nvSpPr>
        <p:spPr>
          <a:xfrm>
            <a:off x="1069848" y="1887793"/>
            <a:ext cx="10058400" cy="4689987"/>
          </a:xfrm>
        </p:spPr>
        <p:txBody>
          <a:bodyPr/>
          <a:lstStyle/>
          <a:p>
            <a:pPr marL="0" indent="0">
              <a:buNone/>
            </a:pPr>
            <a:r>
              <a:rPr lang="en-US" b="1" dirty="0">
                <a:latin typeface="Times New Roman" panose="02020603050405020304" pitchFamily="18" charset="0"/>
                <a:cs typeface="Times New Roman" panose="02020603050405020304" pitchFamily="18" charset="0"/>
              </a:rPr>
              <a:t>Module 1: User Registration and Login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accounts and securely log in.</a:t>
            </a:r>
          </a:p>
          <a:p>
            <a:pPr>
              <a:buNone/>
            </a:pPr>
            <a:r>
              <a:rPr lang="en-US" b="1" dirty="0">
                <a:latin typeface="Times New Roman" panose="02020603050405020304" pitchFamily="18" charset="0"/>
                <a:cs typeface="Times New Roman" panose="02020603050405020304" pitchFamily="18" charset="0"/>
              </a:rPr>
              <a:t>Module 2: Music Streaming &amp; Playback</a:t>
            </a:r>
          </a:p>
          <a:p>
            <a:r>
              <a:rPr lang="en-US" dirty="0">
                <a:latin typeface="Times New Roman" panose="02020603050405020304" pitchFamily="18" charset="0"/>
                <a:cs typeface="Times New Roman" panose="02020603050405020304" pitchFamily="18" charset="0"/>
              </a:rPr>
              <a:t>Provides a seamless music playback experience.</a:t>
            </a:r>
          </a:p>
          <a:p>
            <a:pPr>
              <a:buNone/>
            </a:pPr>
            <a:r>
              <a:rPr lang="en-US" b="1" dirty="0">
                <a:latin typeface="Times New Roman" panose="02020603050405020304" pitchFamily="18" charset="0"/>
                <a:cs typeface="Times New Roman" panose="02020603050405020304" pitchFamily="18" charset="0"/>
              </a:rPr>
              <a:t>Module 3: User Dashboard</a:t>
            </a:r>
          </a:p>
          <a:p>
            <a:r>
              <a:rPr lang="en-US" dirty="0">
                <a:latin typeface="Times New Roman" panose="02020603050405020304" pitchFamily="18" charset="0"/>
                <a:cs typeface="Times New Roman" panose="02020603050405020304" pitchFamily="18" charset="0"/>
              </a:rPr>
              <a:t>Displays user data and activity in an interactive dashboard</a:t>
            </a:r>
            <a:r>
              <a:rPr lang="en-US" b="1" dirty="0">
                <a:latin typeface="Times New Roman" panose="02020603050405020304" pitchFamily="18" charset="0"/>
                <a:cs typeface="Times New Roman" panose="02020603050405020304" pitchFamily="18" charset="0"/>
              </a:rPr>
              <a:t>.</a:t>
            </a:r>
          </a:p>
          <a:p>
            <a:pPr>
              <a:buNone/>
            </a:pPr>
            <a:r>
              <a:rPr lang="en-US" b="1" dirty="0">
                <a:latin typeface="Times New Roman" panose="02020603050405020304" pitchFamily="18" charset="0"/>
                <a:cs typeface="Times New Roman" panose="02020603050405020304" pitchFamily="18" charset="0"/>
              </a:rPr>
              <a:t>Module 4: Music Upload &amp; Storage</a:t>
            </a:r>
          </a:p>
          <a:p>
            <a:r>
              <a:rPr lang="en-US" dirty="0">
                <a:latin typeface="Times New Roman" panose="02020603050405020304" pitchFamily="18" charset="0"/>
                <a:cs typeface="Times New Roman" panose="02020603050405020304" pitchFamily="18" charset="0"/>
              </a:rPr>
              <a:t>Enables users to upload and manage their personal music files.</a:t>
            </a:r>
          </a:p>
          <a:p>
            <a:pPr marL="0" indent="0">
              <a:buNone/>
            </a:pPr>
            <a:endParaRPr lang="en-IN" dirty="0"/>
          </a:p>
        </p:txBody>
      </p:sp>
    </p:spTree>
    <p:extLst>
      <p:ext uri="{BB962C8B-B14F-4D97-AF65-F5344CB8AC3E}">
        <p14:creationId xmlns:p14="http://schemas.microsoft.com/office/powerpoint/2010/main" val="2168289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C919A-0E22-5E39-799B-688D89909C64}"/>
              </a:ext>
            </a:extLst>
          </p:cNvPr>
          <p:cNvSpPr>
            <a:spLocks noGrp="1"/>
          </p:cNvSpPr>
          <p:nvPr>
            <p:ph type="title"/>
          </p:nvPr>
        </p:nvSpPr>
        <p:spPr/>
        <p:txBody>
          <a:bodyPr/>
          <a:lstStyle/>
          <a:p>
            <a:r>
              <a:rPr lang="en-IN" dirty="0"/>
              <a:t>               screenshots</a:t>
            </a:r>
          </a:p>
        </p:txBody>
      </p:sp>
      <p:sp>
        <p:nvSpPr>
          <p:cNvPr id="3" name="Text Placeholder 2">
            <a:extLst>
              <a:ext uri="{FF2B5EF4-FFF2-40B4-BE49-F238E27FC236}">
                <a16:creationId xmlns:a16="http://schemas.microsoft.com/office/drawing/2014/main" id="{23355B4E-8AC1-6D88-ACBA-DEE2F9F5C31B}"/>
              </a:ext>
            </a:extLst>
          </p:cNvPr>
          <p:cNvSpPr>
            <a:spLocks noGrp="1"/>
          </p:cNvSpPr>
          <p:nvPr>
            <p:ph type="body" idx="1"/>
          </p:nvPr>
        </p:nvSpPr>
        <p:spPr/>
        <p:txBody>
          <a:bodyPr/>
          <a:lstStyle/>
          <a:p>
            <a:pPr algn="ctr"/>
            <a:r>
              <a:rPr lang="en-IN" dirty="0">
                <a:solidFill>
                  <a:schemeClr val="tx1"/>
                </a:solidFill>
                <a:latin typeface="Times New Roman" panose="02020603050405020304" pitchFamily="18" charset="0"/>
                <a:cs typeface="Times New Roman" panose="02020603050405020304" pitchFamily="18" charset="0"/>
              </a:rPr>
              <a:t>LOGIN PAGE</a:t>
            </a:r>
          </a:p>
        </p:txBody>
      </p:sp>
      <p:sp>
        <p:nvSpPr>
          <p:cNvPr id="6" name="Content Placeholder 5">
            <a:extLst>
              <a:ext uri="{FF2B5EF4-FFF2-40B4-BE49-F238E27FC236}">
                <a16:creationId xmlns:a16="http://schemas.microsoft.com/office/drawing/2014/main" id="{F38C37AF-90A9-6032-8BB7-3CB314408B21}"/>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28CBB72F-ADE2-2DF4-3DDB-A9D6CD038A90}"/>
              </a:ext>
            </a:extLst>
          </p:cNvPr>
          <p:cNvSpPr>
            <a:spLocks noGrp="1"/>
          </p:cNvSpPr>
          <p:nvPr>
            <p:ph type="body" sz="quarter" idx="3"/>
          </p:nvPr>
        </p:nvSpPr>
        <p:spPr/>
        <p:txBody>
          <a:bodyPr/>
          <a:lstStyle/>
          <a:p>
            <a:pPr algn="ctr"/>
            <a:r>
              <a:rPr lang="en-IN" dirty="0">
                <a:solidFill>
                  <a:schemeClr val="tx1"/>
                </a:solidFill>
                <a:latin typeface="Times New Roman" panose="02020603050405020304" pitchFamily="18" charset="0"/>
                <a:cs typeface="Times New Roman" panose="02020603050405020304" pitchFamily="18" charset="0"/>
              </a:rPr>
              <a:t>SIGNUP PAGE</a:t>
            </a:r>
          </a:p>
        </p:txBody>
      </p:sp>
      <p:sp>
        <p:nvSpPr>
          <p:cNvPr id="12" name="Content Placeholder 11">
            <a:extLst>
              <a:ext uri="{FF2B5EF4-FFF2-40B4-BE49-F238E27FC236}">
                <a16:creationId xmlns:a16="http://schemas.microsoft.com/office/drawing/2014/main" id="{5426A855-629D-65DC-5B9D-A1C26F061182}"/>
              </a:ext>
            </a:extLst>
          </p:cNvPr>
          <p:cNvSpPr>
            <a:spLocks noGrp="1"/>
          </p:cNvSpPr>
          <p:nvPr>
            <p:ph sz="quarter" idx="4"/>
          </p:nvPr>
        </p:nvSpPr>
        <p:spPr/>
        <p:txBody>
          <a:bodyPr/>
          <a:lstStyle/>
          <a:p>
            <a:endParaRPr lang="en-US"/>
          </a:p>
        </p:txBody>
      </p:sp>
      <p:pic>
        <p:nvPicPr>
          <p:cNvPr id="10" name="Picture 9">
            <a:extLst>
              <a:ext uri="{FF2B5EF4-FFF2-40B4-BE49-F238E27FC236}">
                <a16:creationId xmlns:a16="http://schemas.microsoft.com/office/drawing/2014/main" id="{21154293-A4E8-ABAD-409C-A4CEBA99F935}"/>
              </a:ext>
            </a:extLst>
          </p:cNvPr>
          <p:cNvPicPr>
            <a:picLocks noChangeAspect="1"/>
          </p:cNvPicPr>
          <p:nvPr/>
        </p:nvPicPr>
        <p:blipFill>
          <a:blip r:embed="rId2"/>
          <a:stretch>
            <a:fillRect/>
          </a:stretch>
        </p:blipFill>
        <p:spPr>
          <a:xfrm>
            <a:off x="1063752" y="2743200"/>
            <a:ext cx="4920225" cy="3200400"/>
          </a:xfrm>
          <a:prstGeom prst="rect">
            <a:avLst/>
          </a:prstGeom>
        </p:spPr>
      </p:pic>
      <p:pic>
        <p:nvPicPr>
          <p:cNvPr id="14" name="Picture 13">
            <a:extLst>
              <a:ext uri="{FF2B5EF4-FFF2-40B4-BE49-F238E27FC236}">
                <a16:creationId xmlns:a16="http://schemas.microsoft.com/office/drawing/2014/main" id="{148A38D5-BF3C-894E-69F7-71790C7D41CE}"/>
              </a:ext>
            </a:extLst>
          </p:cNvPr>
          <p:cNvPicPr>
            <a:picLocks noChangeAspect="1"/>
          </p:cNvPicPr>
          <p:nvPr/>
        </p:nvPicPr>
        <p:blipFill>
          <a:blip r:embed="rId3"/>
          <a:stretch>
            <a:fillRect/>
          </a:stretch>
        </p:blipFill>
        <p:spPr>
          <a:xfrm>
            <a:off x="6373369" y="2688336"/>
            <a:ext cx="4754879" cy="3599022"/>
          </a:xfrm>
          <a:prstGeom prst="rect">
            <a:avLst/>
          </a:prstGeom>
        </p:spPr>
      </p:pic>
    </p:spTree>
    <p:extLst>
      <p:ext uri="{BB962C8B-B14F-4D97-AF65-F5344CB8AC3E}">
        <p14:creationId xmlns:p14="http://schemas.microsoft.com/office/powerpoint/2010/main" val="4099567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24891-9E72-F57B-B7D4-B6FDD0001245}"/>
              </a:ext>
            </a:extLst>
          </p:cNvPr>
          <p:cNvSpPr>
            <a:spLocks noGrp="1"/>
          </p:cNvSpPr>
          <p:nvPr>
            <p:ph type="title"/>
          </p:nvPr>
        </p:nvSpPr>
        <p:spPr>
          <a:xfrm>
            <a:off x="1069848" y="484632"/>
            <a:ext cx="10058400" cy="941045"/>
          </a:xfrm>
        </p:spPr>
        <p:txBody>
          <a:bodyPr>
            <a:normAutofit/>
          </a:bodyPr>
          <a:lstStyle/>
          <a:p>
            <a:pPr algn="ctr"/>
            <a:r>
              <a:rPr lang="en-IN" sz="3200" b="1" dirty="0">
                <a:latin typeface="Times New Roman" panose="02020603050405020304" pitchFamily="18" charset="0"/>
                <a:cs typeface="Times New Roman" panose="02020603050405020304" pitchFamily="18" charset="0"/>
              </a:rPr>
              <a:t>DASHBOARD</a:t>
            </a:r>
          </a:p>
        </p:txBody>
      </p:sp>
      <p:pic>
        <p:nvPicPr>
          <p:cNvPr id="7" name="Picture 6">
            <a:extLst>
              <a:ext uri="{FF2B5EF4-FFF2-40B4-BE49-F238E27FC236}">
                <a16:creationId xmlns:a16="http://schemas.microsoft.com/office/drawing/2014/main" id="{A5DAE36F-732F-B5E3-9308-43414C947645}"/>
              </a:ext>
            </a:extLst>
          </p:cNvPr>
          <p:cNvPicPr>
            <a:picLocks noChangeAspect="1"/>
          </p:cNvPicPr>
          <p:nvPr/>
        </p:nvPicPr>
        <p:blipFill>
          <a:blip r:embed="rId2"/>
          <a:stretch>
            <a:fillRect/>
          </a:stretch>
        </p:blipFill>
        <p:spPr>
          <a:xfrm>
            <a:off x="806245" y="1328943"/>
            <a:ext cx="10579510" cy="5044425"/>
          </a:xfrm>
          <a:prstGeom prst="rect">
            <a:avLst/>
          </a:prstGeom>
        </p:spPr>
      </p:pic>
    </p:spTree>
    <p:extLst>
      <p:ext uri="{BB962C8B-B14F-4D97-AF65-F5344CB8AC3E}">
        <p14:creationId xmlns:p14="http://schemas.microsoft.com/office/powerpoint/2010/main" val="1475174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5598B-1F24-0124-AFFC-6B45D358B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7D712-AAB0-0FAF-DA1F-A2D79DC3F01C}"/>
              </a:ext>
            </a:extLst>
          </p:cNvPr>
          <p:cNvSpPr>
            <a:spLocks noGrp="1"/>
          </p:cNvSpPr>
          <p:nvPr>
            <p:ph type="title"/>
          </p:nvPr>
        </p:nvSpPr>
        <p:spPr>
          <a:xfrm>
            <a:off x="1069848" y="484632"/>
            <a:ext cx="10058400" cy="714903"/>
          </a:xfrm>
        </p:spPr>
        <p:txBody>
          <a:bodyPr>
            <a:normAutofit/>
          </a:bodyPr>
          <a:lstStyle/>
          <a:p>
            <a:pPr algn="ctr"/>
            <a:r>
              <a:rPr lang="en-IN" sz="3200" b="1" dirty="0">
                <a:latin typeface="Times New Roman" panose="02020603050405020304" pitchFamily="18" charset="0"/>
                <a:cs typeface="Times New Roman" panose="02020603050405020304" pitchFamily="18" charset="0"/>
              </a:rPr>
              <a:t>Music PAGE</a:t>
            </a:r>
          </a:p>
        </p:txBody>
      </p:sp>
      <p:pic>
        <p:nvPicPr>
          <p:cNvPr id="5" name="Picture 4">
            <a:extLst>
              <a:ext uri="{FF2B5EF4-FFF2-40B4-BE49-F238E27FC236}">
                <a16:creationId xmlns:a16="http://schemas.microsoft.com/office/drawing/2014/main" id="{A11D150A-5B3B-4C9A-B9E9-AB89D1BE43B2}"/>
              </a:ext>
            </a:extLst>
          </p:cNvPr>
          <p:cNvPicPr>
            <a:picLocks noChangeAspect="1"/>
          </p:cNvPicPr>
          <p:nvPr/>
        </p:nvPicPr>
        <p:blipFill>
          <a:blip r:embed="rId2"/>
          <a:stretch>
            <a:fillRect/>
          </a:stretch>
        </p:blipFill>
        <p:spPr>
          <a:xfrm>
            <a:off x="806115" y="1199535"/>
            <a:ext cx="10579769" cy="5077627"/>
          </a:xfrm>
          <a:prstGeom prst="rect">
            <a:avLst/>
          </a:prstGeom>
        </p:spPr>
      </p:pic>
    </p:spTree>
    <p:extLst>
      <p:ext uri="{BB962C8B-B14F-4D97-AF65-F5344CB8AC3E}">
        <p14:creationId xmlns:p14="http://schemas.microsoft.com/office/powerpoint/2010/main" val="2553533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F9AB8-4C1B-DEDA-E5A0-01819749C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219AC-1C48-5FCE-171D-C30B2AECC671}"/>
              </a:ext>
            </a:extLst>
          </p:cNvPr>
          <p:cNvSpPr>
            <a:spLocks noGrp="1"/>
          </p:cNvSpPr>
          <p:nvPr>
            <p:ph type="title"/>
          </p:nvPr>
        </p:nvSpPr>
        <p:spPr>
          <a:xfrm>
            <a:off x="1069848" y="484632"/>
            <a:ext cx="10058400" cy="714903"/>
          </a:xfrm>
        </p:spPr>
        <p:txBody>
          <a:bodyPr>
            <a:normAutofit/>
          </a:bodyPr>
          <a:lstStyle/>
          <a:p>
            <a:pPr algn="ctr"/>
            <a:r>
              <a:rPr lang="en-IN" sz="3200" b="1" dirty="0">
                <a:latin typeface="Times New Roman" panose="02020603050405020304" pitchFamily="18" charset="0"/>
                <a:cs typeface="Times New Roman" panose="02020603050405020304" pitchFamily="18" charset="0"/>
              </a:rPr>
              <a:t>SONG UPLOAD PAGE</a:t>
            </a:r>
          </a:p>
        </p:txBody>
      </p:sp>
      <p:pic>
        <p:nvPicPr>
          <p:cNvPr id="5" name="Picture 4">
            <a:extLst>
              <a:ext uri="{FF2B5EF4-FFF2-40B4-BE49-F238E27FC236}">
                <a16:creationId xmlns:a16="http://schemas.microsoft.com/office/drawing/2014/main" id="{609ED458-9437-FAF6-9727-1F3350879CE5}"/>
              </a:ext>
            </a:extLst>
          </p:cNvPr>
          <p:cNvPicPr>
            <a:picLocks noChangeAspect="1"/>
          </p:cNvPicPr>
          <p:nvPr/>
        </p:nvPicPr>
        <p:blipFill>
          <a:blip r:embed="rId2"/>
          <a:stretch>
            <a:fillRect/>
          </a:stretch>
        </p:blipFill>
        <p:spPr>
          <a:xfrm>
            <a:off x="1147010" y="1474855"/>
            <a:ext cx="9897979" cy="4669736"/>
          </a:xfrm>
          <a:prstGeom prst="rect">
            <a:avLst/>
          </a:prstGeom>
        </p:spPr>
      </p:pic>
    </p:spTree>
    <p:extLst>
      <p:ext uri="{BB962C8B-B14F-4D97-AF65-F5344CB8AC3E}">
        <p14:creationId xmlns:p14="http://schemas.microsoft.com/office/powerpoint/2010/main" val="3297384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1E25B-8140-FD8D-A49A-DB935A61C221}"/>
              </a:ext>
            </a:extLst>
          </p:cNvPr>
          <p:cNvSpPr>
            <a:spLocks noGrp="1"/>
          </p:cNvSpPr>
          <p:nvPr>
            <p:ph type="title"/>
          </p:nvPr>
        </p:nvSpPr>
        <p:spPr/>
        <p:txBody>
          <a:bodyPr>
            <a:normAutofit/>
          </a:bodyPr>
          <a:lstStyle/>
          <a:p>
            <a:r>
              <a:rPr lang="en-IN" sz="48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1E68CAA-E2FC-34CB-5CF8-974D72A477BE}"/>
              </a:ext>
            </a:extLst>
          </p:cNvPr>
          <p:cNvSpPr>
            <a:spLocks noGrp="1"/>
          </p:cNvSpPr>
          <p:nvPr>
            <p:ph idx="1"/>
          </p:nvPr>
        </p:nvSpPr>
        <p:spPr>
          <a:xfrm>
            <a:off x="1063752" y="1914931"/>
            <a:ext cx="10058400" cy="4050792"/>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Vibe Wave is a powerful and user-friendly music platform designed to give users complete control over their personal music collection. By integrating secure authentication, cloud storage, and seamless playback, it ensures easy access to music across devices. The project demonstrates the efficient use of web technologies like HTML, CSS, JavaScript, Python, and MongoDB to create a smooth and interactive user experience.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2158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527EE-7E47-A109-3978-2F3EBFB3F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D514C-75E0-BD8C-C623-D377DD457A09}"/>
              </a:ext>
            </a:extLst>
          </p:cNvPr>
          <p:cNvSpPr>
            <a:spLocks noGrp="1"/>
          </p:cNvSpPr>
          <p:nvPr>
            <p:ph type="title"/>
          </p:nvPr>
        </p:nvSpPr>
        <p:spPr>
          <a:xfrm>
            <a:off x="798282" y="521110"/>
            <a:ext cx="10058400" cy="1101213"/>
          </a:xfrm>
        </p:spPr>
        <p:txBody>
          <a:bodyPr>
            <a:normAutofit/>
          </a:bodyPr>
          <a:lstStyle/>
          <a:p>
            <a:r>
              <a:rPr lang="en-IN" sz="4800" b="1" dirty="0">
                <a:latin typeface="Times New Roman" panose="02020603050405020304" pitchFamily="18" charset="0"/>
                <a:cs typeface="Times New Roman" panose="02020603050405020304" pitchFamily="18" charset="0"/>
              </a:rPr>
              <a:t>FUTURE ENHANCEMENTS</a:t>
            </a:r>
          </a:p>
        </p:txBody>
      </p:sp>
      <p:sp>
        <p:nvSpPr>
          <p:cNvPr id="3" name="Content Placeholder 2">
            <a:extLst>
              <a:ext uri="{FF2B5EF4-FFF2-40B4-BE49-F238E27FC236}">
                <a16:creationId xmlns:a16="http://schemas.microsoft.com/office/drawing/2014/main" id="{94F460AB-9FA9-B216-57D1-B3D5920E31CC}"/>
              </a:ext>
            </a:extLst>
          </p:cNvPr>
          <p:cNvSpPr>
            <a:spLocks noGrp="1"/>
          </p:cNvSpPr>
          <p:nvPr>
            <p:ph idx="1"/>
          </p:nvPr>
        </p:nvSpPr>
        <p:spPr>
          <a:xfrm>
            <a:off x="1063752" y="1914931"/>
            <a:ext cx="10058400" cy="4050792"/>
          </a:xfrm>
        </p:spPr>
        <p:txBody>
          <a:bodyPr>
            <a:normAutofit/>
          </a:bodyPr>
          <a:lstStyle/>
          <a:p>
            <a:pPr marL="0" indent="0" algn="just">
              <a:lnSpc>
                <a:spcPct val="150000"/>
              </a:lnSpc>
              <a:buNone/>
            </a:pPr>
            <a:r>
              <a:rPr lang="en-US" dirty="0"/>
              <a:t>     </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7916CDD-6EBC-C2A5-7594-E95C05341298}"/>
              </a:ext>
            </a:extLst>
          </p:cNvPr>
          <p:cNvSpPr>
            <a:spLocks noChangeArrowheads="1"/>
          </p:cNvSpPr>
          <p:nvPr/>
        </p:nvSpPr>
        <p:spPr bwMode="auto">
          <a:xfrm>
            <a:off x="886771" y="2093666"/>
            <a:ext cx="975173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Offline Mode &amp; Smart Downloads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offline playback for downloaded songs.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 smart download feature that automatically downloads favorite songs when on Wi-Fi.</a:t>
            </a:r>
          </a:p>
          <a:p>
            <a:pPr marR="0" lvl="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Live Streaming &amp; Virtual Concerts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artists to live-stream performances directly from the platform.</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Host virtual concerts and fan meetups with ticketed access.</a:t>
            </a:r>
          </a:p>
          <a:p>
            <a:pPr marR="0" lvl="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 &amp; Community Features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lang="en-US" altLang="en-US" dirty="0">
                <a:latin typeface="Times New Roman" panose="02020603050405020304" pitchFamily="18" charset="0"/>
                <a:cs typeface="Times New Roman" panose="02020603050405020304" pitchFamily="18" charset="0"/>
              </a:rPr>
              <a:t>I</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ntroduce a social feed where users can follow others, like, comment, and share songs.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55990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1B605-141D-626E-D40C-625FC63CB99B}"/>
              </a:ext>
            </a:extLst>
          </p:cNvPr>
          <p:cNvSpPr>
            <a:spLocks noGrp="1"/>
          </p:cNvSpPr>
          <p:nvPr>
            <p:ph type="title"/>
          </p:nvPr>
        </p:nvSpPr>
        <p:spPr>
          <a:xfrm>
            <a:off x="1069848" y="484632"/>
            <a:ext cx="10058400" cy="5827678"/>
          </a:xfrm>
        </p:spPr>
        <p:txBody>
          <a:bodyPr>
            <a:normAutofit/>
          </a:bodyPr>
          <a:lstStyle/>
          <a:p>
            <a:r>
              <a:rPr lang="en-IN" sz="8800" b="1" dirty="0"/>
              <a:t>      Thank you</a:t>
            </a:r>
          </a:p>
        </p:txBody>
      </p:sp>
    </p:spTree>
    <p:extLst>
      <p:ext uri="{BB962C8B-B14F-4D97-AF65-F5344CB8AC3E}">
        <p14:creationId xmlns:p14="http://schemas.microsoft.com/office/powerpoint/2010/main" val="7343073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333</TotalTime>
  <Words>774</Words>
  <Application>Microsoft Office PowerPoint</Application>
  <PresentationFormat>Widescreen</PresentationFormat>
  <Paragraphs>76</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Courier New</vt:lpstr>
      <vt:lpstr>Times New Roman</vt:lpstr>
      <vt:lpstr>Tw Cen MT</vt:lpstr>
      <vt:lpstr>Tw Cen MT Condensed</vt:lpstr>
      <vt:lpstr>Wingdings</vt:lpstr>
      <vt:lpstr>Wingdings 3</vt:lpstr>
      <vt:lpstr>Integral</vt:lpstr>
      <vt:lpstr>Vibe Wave</vt:lpstr>
      <vt:lpstr>abstract</vt:lpstr>
      <vt:lpstr>System Analysis</vt:lpstr>
      <vt:lpstr>EXISTING SYSTEM DRAWBACKS:</vt:lpstr>
      <vt:lpstr>PROPOSED SYSTEM ADVANTAGES:</vt:lpstr>
      <vt:lpstr>System Requirements</vt:lpstr>
      <vt:lpstr>Module Descriptions</vt:lpstr>
      <vt:lpstr>               screenshots</vt:lpstr>
      <vt:lpstr>DASHBOARD</vt:lpstr>
      <vt:lpstr>Music PAGE</vt:lpstr>
      <vt:lpstr>SONG UPLOAD PAGE</vt:lpstr>
      <vt:lpstr>CONCLUSION</vt:lpstr>
      <vt:lpstr>FUTURE ENHANCEMENTS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Gayathri Prasad</dc:creator>
  <cp:lastModifiedBy>yugesh arumugam</cp:lastModifiedBy>
  <cp:revision>26</cp:revision>
  <dcterms:created xsi:type="dcterms:W3CDTF">2025-01-01T14:51:22Z</dcterms:created>
  <dcterms:modified xsi:type="dcterms:W3CDTF">2025-03-28T09:06:18Z</dcterms:modified>
</cp:coreProperties>
</file>